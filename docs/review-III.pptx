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3.xml" ContentType="application/vnd.openxmlformats-officedocument.presentationml.slideMaster+xml"/>
  <Override PartName="/ppt/theme/theme10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5.xml" ContentType="application/vnd.openxmlformats-officedocument.theme+xml"/>
  <Override PartName="/ppt/theme/theme9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5.xml" ContentType="application/vnd.openxmlformats-officedocument.theme+xml"/>
  <Override PartName="/ppt/theme/theme23.xml" ContentType="application/vnd.openxmlformats-officedocument.theme+xml"/>
  <Override PartName="/ppt/theme/theme17.xml" ContentType="application/vnd.openxmlformats-officedocument.theme+xml"/>
  <Override PartName="/ppt/theme/theme22.xml" ContentType="application/vnd.openxmlformats-officedocument.theme+xml"/>
  <Override PartName="/ppt/theme/theme16.xml" ContentType="application/vnd.openxmlformats-officedocument.theme+xml"/>
  <Override PartName="/ppt/theme/theme19.xml" ContentType="application/vnd.openxmlformats-officedocument.theme+xml"/>
  <Override PartName="/ppt/theme/theme21.xml" ContentType="application/vnd.openxmlformats-officedocument.theme+xml"/>
  <Override PartName="/ppt/theme/theme15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8.xml" ContentType="application/vnd.openxmlformats-officedocument.theme+xml"/>
  <Override PartName="/ppt/theme/theme14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3" r:id="rId24"/>
  </p:sldMasterIdLst>
  <p:notesMasterIdLst>
    <p:notesMasterId r:id="rId25"/>
  </p:notesMasterIdLst>
  <p:sldIdLst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5"/>
    <p:sldId id="266" r:id="rId36"/>
    <p:sldId id="267" r:id="rId37"/>
    <p:sldId id="268" r:id="rId38"/>
    <p:sldId id="269" r:id="rId39"/>
    <p:sldId id="270" r:id="rId40"/>
    <p:sldId id="271" r:id="rId4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4.xml"/><Relationship Id="rId25" Type="http://schemas.openxmlformats.org/officeDocument/2006/relationships/notesMaster" Target="notesMasters/notesMaster1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Relationship Id="rId36" Type="http://schemas.openxmlformats.org/officeDocument/2006/relationships/slide" Target="slides/slide11.xml"/><Relationship Id="rId37" Type="http://schemas.openxmlformats.org/officeDocument/2006/relationships/slide" Target="slides/slide12.xml"/><Relationship Id="rId38" Type="http://schemas.openxmlformats.org/officeDocument/2006/relationships/slide" Target="slides/slide13.xml"/><Relationship Id="rId39" Type="http://schemas.openxmlformats.org/officeDocument/2006/relationships/slide" Target="slides/slide14.xml"/><Relationship Id="rId40" Type="http://schemas.openxmlformats.org/officeDocument/2006/relationships/slide" Target="slides/slide15.xml"/><Relationship Id="rId41" Type="http://schemas.openxmlformats.org/officeDocument/2006/relationships/slide" Target="slides/slide16.xml"/><Relationship Id="rId4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PlaceHolder 4"/>
          <p:cNvSpPr>
            <a:spLocks noGrp="1"/>
          </p:cNvSpPr>
          <p:nvPr>
            <p:ph type="dt" idx="73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PlaceHolder 5"/>
          <p:cNvSpPr>
            <a:spLocks noGrp="1"/>
          </p:cNvSpPr>
          <p:nvPr>
            <p:ph type="ftr" idx="7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PlaceHolder 6"/>
          <p:cNvSpPr>
            <a:spLocks noGrp="1"/>
          </p:cNvSpPr>
          <p:nvPr>
            <p:ph type="sldNum" idx="7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203F092-5C15-467F-B6DE-046E6BA6EE5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3720" cy="3426840"/>
          </a:xfrm>
          <a:prstGeom prst="rect">
            <a:avLst/>
          </a:prstGeom>
          <a:ln w="0">
            <a:noFill/>
          </a:ln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69640" cy="455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DD0BF37-23E7-48AD-9AD2-78C2182037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91B7513-CCB8-4959-9798-C908A9A634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1950413-17AB-46BD-9DE9-CA18B53657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3DDA865-B549-40D8-BF56-739F2347CE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44AC277-CC18-4E77-B836-8EC17E1C930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2D11281B-3A73-4932-919F-89410CAA55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971070C-CBFE-4AC9-8CA7-7C6FE0F59D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1CCDE939-7077-40FC-8A90-8979D898D7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502C3E8C-55E5-4054-8A85-C24C412C6D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C25BDC6B-6E8C-4467-8343-6AF05F75E1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ABB8EC2-FDDA-49E3-959A-EAA305BF14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AD9D020B-E453-482D-8893-D299327FAC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28E1DABD-4461-4748-89CF-E4A33F7A82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DDB68EF7-2911-4C2E-ACC9-5DD60BD11E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AB9D02BD-C4B5-46EB-9FCD-27137B37DD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ED79C07B-A689-4F02-BFDE-745272E7FC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5A3B5E5C-51A7-4961-938C-9A800F0039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3FB0CF8D-529B-463E-B12D-9294FCCA66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09C8F958-E1C5-4584-9F28-9208595E8B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BD55520E-9EEC-423F-91C8-EA25ACC3804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842AA410-AF8A-4260-BFE9-47A8A33FF9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A0B0777E-1BB0-43F0-83E5-A6415E8EFE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407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408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409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0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1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3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4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PlaceHolder 2"/>
          <p:cNvSpPr>
            <a:spLocks noGrp="1"/>
          </p:cNvSpPr>
          <p:nvPr>
            <p:ph type="ftr" idx="64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sldNum" idx="65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57E9AA8-586D-4907-8FBD-8023500A716B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1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PlaceHolder 4"/>
          <p:cNvSpPr>
            <a:spLocks noGrp="1"/>
          </p:cNvSpPr>
          <p:nvPr>
            <p:ph type="dt" idx="66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1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422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423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424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5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6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7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8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9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0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1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ftr" idx="67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PlaceHolder 4"/>
          <p:cNvSpPr>
            <a:spLocks noGrp="1"/>
          </p:cNvSpPr>
          <p:nvPr>
            <p:ph type="sldNum" idx="68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5603445-7D7C-4E2E-8C93-17FB8A27644F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PlaceHolder 5"/>
          <p:cNvSpPr>
            <a:spLocks noGrp="1"/>
          </p:cNvSpPr>
          <p:nvPr>
            <p:ph type="dt" idx="69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43CA3867-8C98-4CF4-8487-6ED484172E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10CC4B31-BD50-4A17-B8EB-B9ECFEC95F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D6C9B022-0FF6-4DFD-8A5A-36B87FA55A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3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4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5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" name="Group 6"/>
          <p:cNvGrpSpPr/>
          <p:nvPr/>
        </p:nvGrpSpPr>
        <p:grpSpPr>
          <a:xfrm>
            <a:off x="2160" y="-8640"/>
            <a:ext cx="12188160" cy="6868440"/>
            <a:chOff x="2160" y="-8640"/>
            <a:chExt cx="12188160" cy="6868440"/>
          </a:xfrm>
        </p:grpSpPr>
        <p:cxnSp>
          <p:nvCxnSpPr>
            <p:cNvPr id="14" name="Straight Connector 31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15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16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Isosceles Triangle 26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Isosceles Triangle 30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Isosceles Triangle 18"/>
            <p:cNvSpPr/>
            <p:nvPr/>
          </p:nvSpPr>
          <p:spPr>
            <a:xfrm rot="10800000">
              <a:off x="2160" y="2160"/>
              <a:ext cx="840600" cy="566388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1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sldNum" idx="2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D140458-0F75-4A99-98D6-8108B7945D92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dt" idx="3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32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33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34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2" name="Group 6"/>
          <p:cNvGrpSpPr/>
          <p:nvPr/>
        </p:nvGrpSpPr>
        <p:grpSpPr>
          <a:xfrm>
            <a:off x="2160" y="-8640"/>
            <a:ext cx="12188160" cy="6868440"/>
            <a:chOff x="2160" y="-8640"/>
            <a:chExt cx="12188160" cy="6868440"/>
          </a:xfrm>
        </p:grpSpPr>
        <p:cxnSp>
          <p:nvCxnSpPr>
            <p:cNvPr id="43" name="Straight Connector 31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44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45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Isosceles Triangle 26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Isosceles Triangle 30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Isosceles Triangle 18"/>
            <p:cNvSpPr/>
            <p:nvPr/>
          </p:nvSpPr>
          <p:spPr>
            <a:xfrm rot="10800000">
              <a:off x="2160" y="2160"/>
              <a:ext cx="840600" cy="566388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4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5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3FF073F-C838-4BAA-B0C0-DC873A78FDAA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1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6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61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62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63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77160" y="1116000"/>
            <a:ext cx="8594640" cy="30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ftr" idx="7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sldNum" idx="8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6634111-8101-42E6-A1DD-3348FECAE36F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dt" idx="9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79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80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81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77160" y="1085400"/>
            <a:ext cx="8594640" cy="36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ftr" idx="10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sldNum" idx="11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D77B924-AE7D-4C6C-AE74-4A00E94939E9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dt" idx="12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97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98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99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ftr" idx="13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sldNum" idx="14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8DC0727-3129-48EF-9E16-7377D7252E19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dt" idx="15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115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116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117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5" name="TextBox 19"/>
          <p:cNvSpPr/>
          <p:nvPr/>
        </p:nvSpPr>
        <p:spPr>
          <a:xfrm>
            <a:off x="541800" y="790200"/>
            <a:ext cx="60732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  <a:ea typeface="DejaVu Sans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21"/>
          <p:cNvSpPr/>
          <p:nvPr/>
        </p:nvSpPr>
        <p:spPr>
          <a:xfrm>
            <a:off x="8893080" y="2886480"/>
            <a:ext cx="60732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  <a:ea typeface="DejaVu Sans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ftr" idx="16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sldNum" idx="17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D2C22F8-B525-43D5-9419-50C40FE3FE3E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dt" idx="18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135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136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137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ftr" idx="19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sldNum" idx="20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3A3D718-4617-45E9-ADB2-EB08CCA89D21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dt" idx="21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153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154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155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3" name="TextBox 23"/>
          <p:cNvSpPr/>
          <p:nvPr/>
        </p:nvSpPr>
        <p:spPr>
          <a:xfrm>
            <a:off x="541800" y="790200"/>
            <a:ext cx="60732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  <a:ea typeface="DejaVu Sans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24"/>
          <p:cNvSpPr/>
          <p:nvPr/>
        </p:nvSpPr>
        <p:spPr>
          <a:xfrm>
            <a:off x="8893080" y="2886480"/>
            <a:ext cx="60732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  <a:ea typeface="DejaVu Sans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ftr" idx="22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sldNum" idx="23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0377157-19B5-4B69-A030-B075BF702A2B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 type="dt" idx="24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173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174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175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ftr" idx="25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sldNum" idx="26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D4C5645-A500-40CA-B953-0831864F4926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dt" idx="27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191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192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193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77160" y="993960"/>
            <a:ext cx="859464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vert="eaVer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ftr" idx="28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sldNum" idx="29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16139AD-792E-42A0-B50A-E51E716FEB96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PlaceHolder 5"/>
          <p:cNvSpPr>
            <a:spLocks noGrp="1"/>
          </p:cNvSpPr>
          <p:nvPr>
            <p:ph type="dt" idx="30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209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210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211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vert="eaVert">
            <a:no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vert="eaVer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ftr" idx="31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 type="sldNum" idx="32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D1FCCFE-D148-4D6B-9FD7-5D6E603D0BDB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PlaceHolder 5"/>
          <p:cNvSpPr>
            <a:spLocks noGrp="1"/>
          </p:cNvSpPr>
          <p:nvPr>
            <p:ph type="dt" idx="33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227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228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229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677160" y="963720"/>
            <a:ext cx="8594640" cy="60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ftr" idx="34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PlaceHolder 4"/>
          <p:cNvSpPr>
            <a:spLocks noGrp="1"/>
          </p:cNvSpPr>
          <p:nvPr>
            <p:ph type="sldNum" idx="35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296F8BF-7D30-480B-9B24-7BB3C7044681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PlaceHolder 5"/>
          <p:cNvSpPr>
            <a:spLocks noGrp="1"/>
          </p:cNvSpPr>
          <p:nvPr>
            <p:ph type="dt" idx="36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245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246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247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677160" y="993960"/>
            <a:ext cx="859464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ftr" idx="37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PlaceHolder 4"/>
          <p:cNvSpPr>
            <a:spLocks noGrp="1"/>
          </p:cNvSpPr>
          <p:nvPr>
            <p:ph type="sldNum" idx="38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6287DFA-C45B-49E2-99CB-7C220D17A910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PlaceHolder 5"/>
          <p:cNvSpPr>
            <a:spLocks noGrp="1"/>
          </p:cNvSpPr>
          <p:nvPr>
            <p:ph type="dt" idx="39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263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264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265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6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7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8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677160" y="993960"/>
            <a:ext cx="859464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ftr" idx="40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PlaceHolder 4"/>
          <p:cNvSpPr>
            <a:spLocks noGrp="1"/>
          </p:cNvSpPr>
          <p:nvPr>
            <p:ph type="sldNum" idx="41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0F451FE-FB76-474F-9D4D-4361250B8206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PlaceHolder 5"/>
          <p:cNvSpPr>
            <a:spLocks noGrp="1"/>
          </p:cNvSpPr>
          <p:nvPr>
            <p:ph type="dt" idx="42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281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282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283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5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6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677160" y="993960"/>
            <a:ext cx="859464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ftr" idx="43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 type="sldNum" idx="44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A0F2B6A-1141-41D7-A054-A4A832C7A10B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PlaceHolder 5"/>
          <p:cNvSpPr>
            <a:spLocks noGrp="1"/>
          </p:cNvSpPr>
          <p:nvPr>
            <p:ph type="dt" idx="45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299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300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301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2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3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677160" y="993960"/>
            <a:ext cx="859464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ftr" idx="46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PlaceHolder 4"/>
          <p:cNvSpPr>
            <a:spLocks noGrp="1"/>
          </p:cNvSpPr>
          <p:nvPr>
            <p:ph type="sldNum" idx="47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B5D3555-1456-403C-A628-99517AD2A3C3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PlaceHolder 5"/>
          <p:cNvSpPr>
            <a:spLocks noGrp="1"/>
          </p:cNvSpPr>
          <p:nvPr>
            <p:ph type="dt" idx="48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317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318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319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0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1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5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6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677160" y="1131120"/>
            <a:ext cx="8594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ftr" idx="49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PlaceHolder 4"/>
          <p:cNvSpPr>
            <a:spLocks noGrp="1"/>
          </p:cNvSpPr>
          <p:nvPr>
            <p:ph type="sldNum" idx="50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28F0B07-5DC9-44BD-85CE-70E29629BCCB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PlaceHolder 5"/>
          <p:cNvSpPr>
            <a:spLocks noGrp="1"/>
          </p:cNvSpPr>
          <p:nvPr>
            <p:ph type="dt" idx="51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335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336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337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8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9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0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1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2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3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4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677160" y="993960"/>
            <a:ext cx="859464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ftr" idx="52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PlaceHolder 4"/>
          <p:cNvSpPr>
            <a:spLocks noGrp="1"/>
          </p:cNvSpPr>
          <p:nvPr>
            <p:ph type="sldNum" idx="53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F097173-F74C-495C-9EBA-C2B67BC4E940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PlaceHolder 5"/>
          <p:cNvSpPr>
            <a:spLocks noGrp="1"/>
          </p:cNvSpPr>
          <p:nvPr>
            <p:ph type="dt" idx="54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353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354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355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6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7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8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9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0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1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2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677160" y="993960"/>
            <a:ext cx="859464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ftr" idx="55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PlaceHolder 4"/>
          <p:cNvSpPr>
            <a:spLocks noGrp="1"/>
          </p:cNvSpPr>
          <p:nvPr>
            <p:ph type="sldNum" idx="56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94C94B2-E45A-4497-B70C-F325D4102AC6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PlaceHolder 5"/>
          <p:cNvSpPr>
            <a:spLocks noGrp="1"/>
          </p:cNvSpPr>
          <p:nvPr>
            <p:ph type="dt" idx="57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371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372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373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4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5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6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7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8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9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0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ftr" idx="58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PlaceHolder 4"/>
          <p:cNvSpPr>
            <a:spLocks noGrp="1"/>
          </p:cNvSpPr>
          <p:nvPr>
            <p:ph type="sldNum" idx="59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01CD832-56FA-49D8-A2D4-27828DBD24C1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PlaceHolder 5"/>
          <p:cNvSpPr>
            <a:spLocks noGrp="1"/>
          </p:cNvSpPr>
          <p:nvPr>
            <p:ph type="dt" idx="60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389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390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391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2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3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4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5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6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7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8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ftr" idx="61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PlaceHolder 4"/>
          <p:cNvSpPr>
            <a:spLocks noGrp="1"/>
          </p:cNvSpPr>
          <p:nvPr>
            <p:ph type="sldNum" idx="62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F0D1235-5054-46B6-A80A-A8B5C793188A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PlaceHolder 5"/>
          <p:cNvSpPr>
            <a:spLocks noGrp="1"/>
          </p:cNvSpPr>
          <p:nvPr>
            <p:ph type="dt" idx="63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2"/>
    <p:sldLayoutId id="2147483692" r:id="rId3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438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439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440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1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2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3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4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5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6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7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8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ftr" idx="70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PlaceHolder 4"/>
          <p:cNvSpPr>
            <a:spLocks noGrp="1"/>
          </p:cNvSpPr>
          <p:nvPr>
            <p:ph type="sldNum" idx="71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7C0A0DB-E402-44D2-8B65-5ABB6DB3B9FE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PlaceHolder 5"/>
          <p:cNvSpPr>
            <a:spLocks noGrp="1"/>
          </p:cNvSpPr>
          <p:nvPr>
            <p:ph type="dt" idx="72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2"/>
    <p:sldLayoutId id="2147483695" r:id="rId3"/>
    <p:sldLayoutId id="2147483696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2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title"/>
          </p:nvPr>
        </p:nvSpPr>
        <p:spPr>
          <a:xfrm>
            <a:off x="914400" y="-267120"/>
            <a:ext cx="8227800" cy="1865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Trebuchet MS"/>
              </a:rPr>
              <a:t>Minimal Linux Distribution for Cybersecurity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PlaceHolder 2"/>
          <p:cNvSpPr/>
          <p:nvPr/>
        </p:nvSpPr>
        <p:spPr>
          <a:xfrm>
            <a:off x="2286000" y="2286000"/>
            <a:ext cx="8498520" cy="28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TEAM MEMBERS :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SRIDHARAN. T               ( 620822205302 )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PRAVEEN RAJ. G             ( 620822205078 )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SHANMUGA SRILAN. T ( 620822205097 )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MUGILAN. K                   ( 620822205066 )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GUIDE : Mrs. P. KARTHIKAYINI, AP/IT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title"/>
          </p:nvPr>
        </p:nvSpPr>
        <p:spPr>
          <a:xfrm>
            <a:off x="228600" y="51480"/>
            <a:ext cx="8594640" cy="13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Objective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PlaceHolder 3"/>
          <p:cNvSpPr/>
          <p:nvPr/>
        </p:nvSpPr>
        <p:spPr>
          <a:xfrm>
            <a:off x="549360" y="1143000"/>
            <a:ext cx="8593200" cy="44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The primary objectives of the Cogman framework are: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To design a fully metadata-driven package 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To replace traditional package managers with a controlled assistant-based workflow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To ensure deterministic, repeatable builds for all system components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To support secure toolchain bootstrapping from first principles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To provide a clean foundation for penetration-testing distributions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To enable future expansion toward AI-assisted security tooling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title"/>
          </p:nvPr>
        </p:nvSpPr>
        <p:spPr>
          <a:xfrm>
            <a:off x="340560" y="0"/>
            <a:ext cx="8254080" cy="13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Existing System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Rectangle 3"/>
          <p:cNvSpPr/>
          <p:nvPr/>
        </p:nvSpPr>
        <p:spPr>
          <a:xfrm>
            <a:off x="379440" y="3570120"/>
            <a:ext cx="34999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DejaVu Sans"/>
              </a:rPr>
              <a:t>Disadvantage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PlaceHolder 4"/>
          <p:cNvSpPr/>
          <p:nvPr/>
        </p:nvSpPr>
        <p:spPr>
          <a:xfrm>
            <a:off x="834840" y="727920"/>
            <a:ext cx="8078760" cy="26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Most existing Linux distributions use package managers such as APT, DNF, or Pacman. These systems rely 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Prebuilt binary packages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Centralized repositories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Complex dependency solvers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Implicit trust in upstream maintainers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Content Placeholder 1"/>
          <p:cNvSpPr/>
          <p:nvPr/>
        </p:nvSpPr>
        <p:spPr>
          <a:xfrm>
            <a:off x="685800" y="4156920"/>
            <a:ext cx="8078760" cy="26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Lack of full visibility into build processes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Difficult to reproduce identical systems across machines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High dependency bloat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Limited isolation between build and runtime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Security tools often introduce unnecessary attack surface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43560" y="156240"/>
            <a:ext cx="8594640" cy="13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Proposed System :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Rectangle 4"/>
          <p:cNvSpPr/>
          <p:nvPr/>
        </p:nvSpPr>
        <p:spPr>
          <a:xfrm>
            <a:off x="184680" y="3560400"/>
            <a:ext cx="3120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DejaVu Sans"/>
              </a:rPr>
              <a:t>Advantage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PlaceHolder 5"/>
          <p:cNvSpPr/>
          <p:nvPr/>
        </p:nvSpPr>
        <p:spPr>
          <a:xfrm>
            <a:off x="685800" y="946080"/>
            <a:ext cx="8593200" cy="27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Cogman introduces a metadata-centric and assistant-driven architecture where every package is explicitly defined by structured configuration files. Instead of installing packages directly into the system, Cogman enforces a staged workflow: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Source acquisition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Controlled build lifecycle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Isolated package root installation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Content Placeholder 3"/>
          <p:cNvSpPr/>
          <p:nvPr/>
        </p:nvSpPr>
        <p:spPr>
          <a:xfrm>
            <a:off x="685800" y="4207680"/>
            <a:ext cx="8593200" cy="264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Complete transparency of build and install steps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Deterministic and reproducible builds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Strong separation between build, package, and system root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Fine-grained dependency verification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Improved system security and auditability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195840" y="111960"/>
            <a:ext cx="8839800" cy="13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SYSTEM ARCHITECTURE/FLOW DIAGRAM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>
            <a:off x="3873600" y="2184840"/>
            <a:ext cx="3426840" cy="455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  <a:ea typeface="DejaVu Sans"/>
              </a:rPr>
              <a:t>Package Metadat Layer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>
            <a:off x="3886200" y="3099240"/>
            <a:ext cx="3426840" cy="455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Noto Serif"/>
                <a:ea typeface="DejaVu Sans"/>
              </a:rPr>
              <a:t>Schema Verification Layer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"/>
          <p:cNvSpPr/>
          <p:nvPr/>
        </p:nvSpPr>
        <p:spPr>
          <a:xfrm>
            <a:off x="3886200" y="4013640"/>
            <a:ext cx="3426840" cy="455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  <a:ea typeface="DejaVu Sans"/>
              </a:rPr>
              <a:t>Cogman build engine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>
            <a:off x="3886200" y="4928040"/>
            <a:ext cx="3426840" cy="455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  <a:ea typeface="DejaVu Sans"/>
              </a:rPr>
              <a:t>Package rootinstall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"/>
          <p:cNvSpPr/>
          <p:nvPr/>
        </p:nvSpPr>
        <p:spPr>
          <a:xfrm>
            <a:off x="5486400" y="4470840"/>
            <a:ext cx="226440" cy="455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83" name=""/>
          <p:cNvSpPr/>
          <p:nvPr/>
        </p:nvSpPr>
        <p:spPr>
          <a:xfrm>
            <a:off x="5486400" y="2642040"/>
            <a:ext cx="226440" cy="455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84" name=""/>
          <p:cNvSpPr/>
          <p:nvPr/>
        </p:nvSpPr>
        <p:spPr>
          <a:xfrm>
            <a:off x="5486400" y="3556440"/>
            <a:ext cx="226440" cy="455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85" name=""/>
          <p:cNvSpPr/>
          <p:nvPr/>
        </p:nvSpPr>
        <p:spPr>
          <a:xfrm>
            <a:off x="5486400" y="1727640"/>
            <a:ext cx="226440" cy="455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86" name=""/>
          <p:cNvSpPr/>
          <p:nvPr/>
        </p:nvSpPr>
        <p:spPr>
          <a:xfrm>
            <a:off x="3886200" y="1371600"/>
            <a:ext cx="3426840" cy="455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  <a:ea typeface="DejaVu Sans"/>
              </a:rPr>
              <a:t>Cogman Assistant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"/>
          <p:cNvSpPr/>
          <p:nvPr/>
        </p:nvSpPr>
        <p:spPr>
          <a:xfrm>
            <a:off x="3886200" y="5943600"/>
            <a:ext cx="3426840" cy="455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  <a:ea typeface="DejaVu Sans"/>
              </a:rPr>
              <a:t>Rootfs Deployment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"/>
          <p:cNvSpPr/>
          <p:nvPr/>
        </p:nvSpPr>
        <p:spPr>
          <a:xfrm>
            <a:off x="5462640" y="5487120"/>
            <a:ext cx="226440" cy="455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title"/>
          </p:nvPr>
        </p:nvSpPr>
        <p:spPr>
          <a:xfrm>
            <a:off x="43560" y="156240"/>
            <a:ext cx="8594640" cy="13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PlaceHolder 2"/>
          <p:cNvSpPr>
            <a:spLocks noGrp="1"/>
          </p:cNvSpPr>
          <p:nvPr>
            <p:ph/>
          </p:nvPr>
        </p:nvSpPr>
        <p:spPr>
          <a:xfrm>
            <a:off x="266400" y="205560"/>
            <a:ext cx="8594640" cy="61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marL="343080" indent="-34308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144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Modules :</a:t>
            </a:r>
            <a:endParaRPr lang="en-US" sz="1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Rectangle 4"/>
          <p:cNvSpPr/>
          <p:nvPr/>
        </p:nvSpPr>
        <p:spPr>
          <a:xfrm>
            <a:off x="275760" y="3599280"/>
            <a:ext cx="3029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DejaVu San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Content Placeholder 5"/>
          <p:cNvSpPr/>
          <p:nvPr/>
        </p:nvSpPr>
        <p:spPr>
          <a:xfrm>
            <a:off x="677880" y="1371960"/>
            <a:ext cx="8593200" cy="415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Metadata Loader and Verifier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Assistant-Based Command Interface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Builder and Toolchain Manager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Package Root Manager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System Deployment Manager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6"/>
          <p:cNvSpPr/>
          <p:nvPr/>
        </p:nvSpPr>
        <p:spPr>
          <a:xfrm>
            <a:off x="282960" y="156600"/>
            <a:ext cx="977472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1</a:t>
            </a: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: </a:t>
            </a:r>
            <a:r>
              <a:rPr lang="en-US" sz="32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Noto Sans"/>
              </a:rPr>
              <a:t>Metadata Loader and Verifier</a:t>
            </a:r>
            <a:br>
              <a:rPr sz="3200"/>
            </a:b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PlaceHolder 7"/>
          <p:cNvSpPr/>
          <p:nvPr/>
        </p:nvSpPr>
        <p:spPr>
          <a:xfrm>
            <a:off x="549000" y="1143000"/>
            <a:ext cx="8593200" cy="548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Purpose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Handles secure loading, validation, and integrity verification of system and package metadata.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Core Responsibilities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Parse structured metadata ( TOML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Verify cryptographic signatures ( SHA-256 )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Validate schema and version compatibility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Detect tampering and corruption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Cache verified metadata securely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Key Features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Pluggable verification backends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Schema evolution support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Trust-chain 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Deterministic parsing for reproducibility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3"/>
          <p:cNvSpPr/>
          <p:nvPr/>
        </p:nvSpPr>
        <p:spPr>
          <a:xfrm>
            <a:off x="282960" y="156600"/>
            <a:ext cx="977472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2</a:t>
            </a: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: </a:t>
            </a:r>
            <a:r>
              <a:rPr lang="en-US" sz="2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Noto Sans"/>
              </a:rPr>
              <a:t>Assistant-Based Command Interface</a:t>
            </a:r>
            <a:br>
              <a:rPr sz="2800"/>
            </a:b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PlaceHolder 14"/>
          <p:cNvSpPr/>
          <p:nvPr/>
        </p:nvSpPr>
        <p:spPr>
          <a:xfrm>
            <a:off x="549000" y="1143000"/>
            <a:ext cx="8593200" cy="548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Purpose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Natural language or structured assistant interface to control system operations.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Core Responsibilities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Parse user intent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Convert intent into validated system commands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Enforce permission boundaries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Provide contextual feedback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Maintain command audit logs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Key Features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AI-assisted task translation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Safe command sandboxing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0"/>
          <p:cNvSpPr/>
          <p:nvPr/>
        </p:nvSpPr>
        <p:spPr>
          <a:xfrm>
            <a:off x="282960" y="156600"/>
            <a:ext cx="103755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40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Module 3</a:t>
            </a:r>
            <a:r>
              <a:rPr lang="en-IN" sz="28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: </a:t>
            </a:r>
            <a:r>
              <a:rPr lang="en-US" sz="32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Builder and Toolchain Manager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PlaceHolder 11"/>
          <p:cNvSpPr/>
          <p:nvPr/>
        </p:nvSpPr>
        <p:spPr>
          <a:xfrm>
            <a:off x="549000" y="1143000"/>
            <a:ext cx="8593200" cy="548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Purpose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Manages compilation, dependency resolution, and reproducible builds.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Core Responsibilities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Toolchain version control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Dependency graph resolution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Cross-compilation support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Incremental builds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Artifact hashing and verification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Key Features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Deterministic builds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Build cache optimization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Environment isolation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8"/>
          <p:cNvSpPr/>
          <p:nvPr/>
        </p:nvSpPr>
        <p:spPr>
          <a:xfrm>
            <a:off x="282960" y="156600"/>
            <a:ext cx="103755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40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Module 4</a:t>
            </a:r>
            <a:r>
              <a:rPr lang="en-IN" sz="28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: </a:t>
            </a:r>
            <a:r>
              <a:rPr lang="en-US" sz="32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Package Root Manager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PlaceHolder 9"/>
          <p:cNvSpPr/>
          <p:nvPr/>
        </p:nvSpPr>
        <p:spPr>
          <a:xfrm>
            <a:off x="549000" y="1143000"/>
            <a:ext cx="8593200" cy="548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Manages isolated package root installation at /mnt/rogue/pkgroot.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Each package installs into its own subdirectory namespace — no cross-contamination.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Prevents build artifacts from one package interfering with another's installation.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Supports staged installation: package root built before merging into system root.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Rollback capability: remove a package by deleting its pkgroot subdirectory tree.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Package manifest (pkg_manifest.txt) tracks all installed components with hashes.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Validates installation completeness: all expected files present and hash-verified.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Foundation for clean rootfs assembly — packages aggregated deterministically.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5"/>
          <p:cNvSpPr/>
          <p:nvPr/>
        </p:nvSpPr>
        <p:spPr>
          <a:xfrm>
            <a:off x="282960" y="156600"/>
            <a:ext cx="103755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40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Module 4</a:t>
            </a:r>
            <a:r>
              <a:rPr lang="en-IN" sz="28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: </a:t>
            </a:r>
            <a:r>
              <a:rPr lang="en-US" sz="32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Implementation Details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PlaceHolder 16"/>
          <p:cNvSpPr/>
          <p:nvPr/>
        </p:nvSpPr>
        <p:spPr>
          <a:xfrm>
            <a:off x="549000" y="1143000"/>
            <a:ext cx="8593200" cy="548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Directory Structure: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 /mnt/rogue/pkgroot/{package-name}/{bin, lib, share, include} — per-package namespacing.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base-files, busybox installed into pkgroot/base-files/, pkgroot/busybox/ respectively.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linux-headers in pkgroot/linux-headers/ for toolchain packages.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Installation via cogman-exec (C11):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Executor reads .plan steps: op=MKDIR, op=COPY_FILE, op=SYMLINK.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mkdir(pkgroot/{name}/{dir}) creates isolated namespace before file copy.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SHA-256 of each installed file verified against plan metadata hash.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On hash mismatch: executor fails-fast with error code 1 — no partial install.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Manifest Tracking: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pkg_manifest.txt updated after each successful package install.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Entry format: package_name | version | install_path | artifact_hash.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148+ packages tracked in current manifest (pkg_manifest.txt).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7"/>
          <p:cNvSpPr/>
          <p:nvPr/>
        </p:nvSpPr>
        <p:spPr>
          <a:xfrm>
            <a:off x="282960" y="156600"/>
            <a:ext cx="103755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40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Module 5: System Deployment Manager</a:t>
            </a:r>
            <a:r>
              <a:rPr lang="en-IN" sz="28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18"/>
          <p:cNvSpPr/>
          <p:nvPr/>
        </p:nvSpPr>
        <p:spPr>
          <a:xfrm>
            <a:off x="549000" y="1143000"/>
            <a:ext cx="8593200" cy="548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Orchestrates final rootfs assembly by merging isolated package roots into system tree.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Validates system completeness before deployment using pre-rootfs checklist.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Merges pkgroot/{package}/* into unified /mnt/rogue/rootfs/ directory tree.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Generates bootable ISO image from completed rootfs using standard Linux tools.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Supports deterministic rebuilds: same metadata → identical rootfs every time.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Pre-rootfs checklist (PRE-ROOTFS-CHECKLIST.md) validates all components present.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Handles symlinks, permissions, and file modes during merge phase.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Final ISO verified against expected size and checksum before distribution.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9"/>
          <p:cNvSpPr/>
          <p:nvPr/>
        </p:nvSpPr>
        <p:spPr>
          <a:xfrm>
            <a:off x="282960" y="156600"/>
            <a:ext cx="103755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40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Module 5: Implementation Details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PlaceHolder 20"/>
          <p:cNvSpPr/>
          <p:nvPr/>
        </p:nvSpPr>
        <p:spPr>
          <a:xfrm>
            <a:off x="549000" y="1143000"/>
            <a:ext cx="8593200" cy="548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Deployment Pipeline: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 Step 1: Validate all packages in pkg_manifest.txt are present in pkgroot.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Step 2: Run pre-rootfs checklist: required binaries, init, kernel, bootloader.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Step 3: Merge pkgroot/* → rootfs/ using cogman-exec MERGE_ROOT step.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Step 4: Configure system: /etc/passwd, /etc/group, hostname, fstab.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Step 5: Generate initramfs from rootfs using cpio + gzip.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Step 6: Package bootable ISO: syslinux/ISOLINUX + kernel + initramfs.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Cogman Integration: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cogman deploy command triggers planner to generate deployment.plan.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Planner validates all dependencies resolved before generating deploy steps.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Executor processes merge steps: COPY_TREE, APPLY_PERMS, CREATE_SYMLINK.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Verification: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SHA-256 checksum of final ISO computed and logged to build artifacts.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ISO tested in QEMU environment before release signing.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21"/>
          <p:cNvSpPr/>
          <p:nvPr/>
        </p:nvSpPr>
        <p:spPr>
          <a:xfrm>
            <a:off x="282960" y="156600"/>
            <a:ext cx="103755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40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Screenshot: Source code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8" name=""/>
          <p:cNvPicPr/>
          <p:nvPr/>
        </p:nvPicPr>
        <p:blipFill>
          <a:blip r:embed="rId1"/>
          <a:stretch/>
        </p:blipFill>
        <p:spPr>
          <a:xfrm>
            <a:off x="685800" y="1143000"/>
            <a:ext cx="3886200" cy="280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9" name=""/>
          <p:cNvPicPr/>
          <p:nvPr/>
        </p:nvPicPr>
        <p:blipFill>
          <a:blip r:embed="rId2"/>
          <a:stretch/>
        </p:blipFill>
        <p:spPr>
          <a:xfrm>
            <a:off x="4800600" y="1143000"/>
            <a:ext cx="3886200" cy="280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0" name=""/>
          <p:cNvPicPr/>
          <p:nvPr/>
        </p:nvPicPr>
        <p:blipFill>
          <a:blip r:embed="rId3"/>
          <a:stretch/>
        </p:blipFill>
        <p:spPr>
          <a:xfrm>
            <a:off x="685800" y="4114800"/>
            <a:ext cx="3874680" cy="2514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1" name=""/>
          <p:cNvPicPr/>
          <p:nvPr/>
        </p:nvPicPr>
        <p:blipFill>
          <a:blip r:embed="rId4"/>
          <a:stretch/>
        </p:blipFill>
        <p:spPr>
          <a:xfrm>
            <a:off x="4800600" y="4114800"/>
            <a:ext cx="3886200" cy="2514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22"/>
          <p:cNvSpPr/>
          <p:nvPr/>
        </p:nvSpPr>
        <p:spPr>
          <a:xfrm>
            <a:off x="282960" y="156600"/>
            <a:ext cx="103755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40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Screenshot: UI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3" name=""/>
          <p:cNvPicPr/>
          <p:nvPr/>
        </p:nvPicPr>
        <p:blipFill>
          <a:blip r:embed="rId1"/>
          <a:stretch/>
        </p:blipFill>
        <p:spPr>
          <a:xfrm>
            <a:off x="1143000" y="1371600"/>
            <a:ext cx="8001000" cy="4363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title"/>
          </p:nvPr>
        </p:nvSpPr>
        <p:spPr>
          <a:xfrm>
            <a:off x="74520" y="156240"/>
            <a:ext cx="8594640" cy="13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Conclusion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Cloud Callout 3"/>
          <p:cNvSpPr/>
          <p:nvPr/>
        </p:nvSpPr>
        <p:spPr>
          <a:xfrm>
            <a:off x="2986560" y="5048640"/>
            <a:ext cx="4657320" cy="127224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1"/>
          </a:solidFill>
          <a:ln cap="rnd" w="19080">
            <a:solidFill>
              <a:srgbClr val="90C2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rebuchet MS"/>
                <a:ea typeface="DejaVu Sans"/>
              </a:rPr>
              <a:t>THANK YOU 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PlaceHolder 12"/>
          <p:cNvSpPr/>
          <p:nvPr/>
        </p:nvSpPr>
        <p:spPr>
          <a:xfrm>
            <a:off x="665640" y="857160"/>
            <a:ext cx="8593200" cy="444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Cogman demonstrates a new approach to building security-focused Linux distributions by prioritizing transparency, control, and reproducibility. By replacing traditional package managers with a metadata-driven assistant framework, Cogman provides a strong foundation for secure penetration-testing environments.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The system not only improves trust and auditability but also opens the door for future enhancements such as AI-assisted security analysis, automated hardening, and dynamic toolchain optimization.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Cogman represents a significant step toward next-generation security operating systems.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2309</TotalTime>
  <Application>LibreOffice/26.2.1.2$Linux_X86_64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2024-12-13T12:01:40Z</dcterms:created>
  <dc:creator>vishalrameshv13@gmail.com</dc:creator>
  <dc:description/>
  <dc:language>en-US</dc:language>
  <cp:lastModifiedBy/>
  <cp:lastPrinted>2026-02-24T10:18:30Z</cp:lastPrinted>
  <dcterms:modified xsi:type="dcterms:W3CDTF">2026-04-05T16:51:43Z</dcterms:modified>
  <cp:revision>19</cp:revision>
  <dc:subject/>
  <dc:title>INVEST MATCH AI CLOUD BASED   STARTUP AND INVESTOR   MATCHING PLATFORM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Widescreen</vt:lpwstr>
  </property>
  <property fmtid="{D5CDD505-2E9C-101B-9397-08002B2CF9AE}" pid="4" name="Slides">
    <vt:r8>13</vt:r8>
  </property>
</Properties>
</file>